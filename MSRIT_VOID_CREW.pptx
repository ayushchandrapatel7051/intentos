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3"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defTabSz="914400">
              <a:lnSpc>
                <a:spcPct val="90000"/>
              </a:lnSpc>
            </a:pPr>
            <a:r>
              <a:rPr lang="en-US" sz="4400" b="0" u="none" strike="noStrike">
                <a:solidFill>
                  <a:schemeClr val="dk1"/>
                </a:solidFill>
                <a:effectLst/>
                <a:uFillTx/>
                <a:latin typeface="Calibri Light"/>
              </a:rPr>
              <a:t>Click to move the slide</a:t>
            </a:r>
          </a:p>
        </p:txBody>
      </p:sp>
      <p:sp>
        <p:nvSpPr>
          <p:cNvPr id="6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6"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7"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8"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14E3BD8-C846-4C6D-A330-5F39B95523A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685800" y="1143000"/>
            <a:ext cx="5486040" cy="308592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CA3431-B8B7-42B2-8BDF-CD2B5288426C}"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0"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FA5917-2DAE-443F-A9C5-1312DAE16DFE}"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noRot="1" noChangeAspect="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150A93-AD5E-46BD-BC66-CC963DF61C8C}"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noRot="1" noChangeAspect="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020083-BED2-4CE9-9C8F-2D55CDB206E3}"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685800" y="1143000"/>
            <a:ext cx="5486400" cy="308610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9"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832253-8CF4-4371-AA68-047A373A97B6}"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noRot="1" noChangeAspect="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2"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2CB632-30BF-458A-8AAF-4F62E48D6541}"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noRot="1" noChangeAspect="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5"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6CE058-81A8-46F0-B7EC-B32A1E0CBAA9}"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noRot="1" noChangeAspect="1"/>
          </p:cNvSpPr>
          <p:nvPr>
            <p:ph type="sldImg"/>
          </p:nvPr>
        </p:nvSpPr>
        <p:spPr>
          <a:xfrm>
            <a:off x="685800" y="1143000"/>
            <a:ext cx="5486400" cy="308610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8"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4A42DA-3654-4DB3-8050-C5D1907958B3}"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noRot="1" noChangeAspect="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71"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0AD2B2-1A0D-4C98-AFF8-E4108D20ABCE}"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a:defRPr>
            </a:lvl1pPr>
          </a:lstStyle>
          <a:p>
            <a:pPr indent="0" algn="ctr" defTabSz="914400">
              <a:lnSpc>
                <a:spcPct val="90000"/>
              </a:lnSpc>
              <a:buNone/>
            </a:pPr>
            <a:r>
              <a:rPr lang="en-US" sz="6000" b="0" u="none" strike="noStrike">
                <a:solidFill>
                  <a:schemeClr val="dk1"/>
                </a:solidFill>
                <a:effectLst/>
                <a:uFillTx/>
                <a:latin typeface="Calibri Light"/>
              </a:rPr>
              <a:t>Click to edit Master title style</a:t>
            </a: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F439D974-FE4E-4DF2-A253-8EB5E08F57EA}"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3F1F196-41A3-43B1-884B-CF73B53AC4FA}"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D1716891-335D-4DEE-9537-E232593EB032}"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the title text format</a:t>
            </a:r>
          </a:p>
        </p:txBody>
      </p:sp>
      <p:sp>
        <p:nvSpPr>
          <p:cNvPr id="1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1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B92775D-E303-4243-A4CF-E3D1989B0A6D}"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a:defRPr>
            </a:lvl1pPr>
          </a:lstStyle>
          <a:p>
            <a:pPr indent="0" algn="l" defTabSz="914400">
              <a:lnSpc>
                <a:spcPct val="90000"/>
              </a:lnSpc>
              <a:buNone/>
            </a:pPr>
            <a:r>
              <a:rPr lang="en-US" sz="6000" b="0" u="none" strike="noStrike">
                <a:solidFill>
                  <a:schemeClr val="dk1"/>
                </a:solidFill>
                <a:effectLst/>
                <a:uFillTx/>
                <a:latin typeface="Calibri Light"/>
              </a:rPr>
              <a:t>Click to edit Master title style</a:t>
            </a:r>
          </a:p>
        </p:txBody>
      </p:sp>
      <p:sp>
        <p:nvSpPr>
          <p:cNvPr id="24"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p>
        </p:txBody>
      </p:sp>
      <p:sp>
        <p:nvSpPr>
          <p:cNvPr id="25"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7"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AB91A1B4-9FE5-4D11-A47B-9C621CD7252D}"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29"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0"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1"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2"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3"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C0E3DBB6-69EA-4309-B395-CD58D1104599}"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35"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p>
        </p:txBody>
      </p:sp>
      <p:sp>
        <p:nvSpPr>
          <p:cNvPr id="37"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8"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p>
        </p:txBody>
      </p:sp>
      <p:sp>
        <p:nvSpPr>
          <p:cNvPr id="39"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0"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1"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E0E87854-28B5-4985-81C1-484AB84D91E2}"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p>
        </p:txBody>
      </p:sp>
      <p:sp>
        <p:nvSpPr>
          <p:cNvPr id="43"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4"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5"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F046B43B-2C3A-44F7-A79D-680F79F59DA6}"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8"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C845294-D7C6-4ED2-85AA-E85337D89D44}"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9"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the title text format</a:t>
            </a:r>
          </a:p>
        </p:txBody>
      </p:sp>
      <p:sp>
        <p:nvSpPr>
          <p:cNvPr id="5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p>
        </p:txBody>
      </p:sp>
      <p:sp>
        <p:nvSpPr>
          <p:cNvPr id="5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5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4"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5"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6"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73DE900E-E7D5-49C5-AE84-4B8E8E369D1F}"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p>
        </p:txBody>
      </p:sp>
      <p:sp>
        <p:nvSpPr>
          <p:cNvPr id="5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60"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75000"/>
                  </a:schemeClr>
                </a:solidFill>
                <a:effectLst/>
                <a:uFillTx/>
                <a:latin typeface="Calibri"/>
              </a:defRPr>
            </a:lvl1pPr>
          </a:lstStyle>
          <a:p>
            <a:pPr indent="0" algn="l" defTabSz="914400">
              <a:lnSpc>
                <a:spcPct val="100000"/>
              </a:lnSpc>
              <a:buNone/>
            </a:pPr>
            <a:r>
              <a:rPr lang="en-IN"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1"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2"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74AC10EA-8C09-4FE5-A52D-4F2C713898F5}" type="slidenum">
              <a:rPr lang="en-IN"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yushchandrapatel7051/IntentOS"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docs.google.com/document/d/1eJHJWuwl08AASHcVNO4YVdk7dtH-1TlY/edit?usp=drive_link&amp;ouid=103041529149979191539&amp;rtpof=true&amp;sd=true" TargetMode="External"/><Relationship Id="rId4" Type="http://schemas.openxmlformats.org/officeDocument/2006/relationships/hyperlink" Target="https://drive.google.com/file/d/1x0mhyvkGGOudKDBIoXwq-48ukniB6knK/view?usp=sharin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98"/>
          <p:cNvPicPr/>
          <p:nvPr/>
        </p:nvPicPr>
        <p:blipFill>
          <a:blip r:embed="rId2"/>
          <a:srcRect l="35214" t="9861" r="35721" b="40504"/>
          <a:stretch/>
        </p:blipFill>
        <p:spPr>
          <a:xfrm>
            <a:off x="7372440" y="1619640"/>
            <a:ext cx="4421160" cy="5637960"/>
          </a:xfrm>
          <a:prstGeom prst="rect">
            <a:avLst/>
          </a:prstGeom>
          <a:noFill/>
          <a:ln w="0">
            <a:noFill/>
          </a:ln>
        </p:spPr>
      </p:pic>
      <p:sp>
        <p:nvSpPr>
          <p:cNvPr id="70" name="TextBox 74"/>
          <p:cNvSpPr/>
          <p:nvPr/>
        </p:nvSpPr>
        <p:spPr>
          <a:xfrm>
            <a:off x="0" y="604440"/>
            <a:ext cx="218232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chemeClr val="dk1"/>
                </a:solidFill>
                <a:effectLst/>
                <a:uFillTx/>
                <a:latin typeface="Berlin Sans FB Demi"/>
                <a:ea typeface="SamsungOne 800"/>
              </a:rPr>
              <a:t>CLASH OF THE</a:t>
            </a:r>
            <a:endParaRPr lang="en-US" sz="2000" b="0" u="none" strike="noStrike">
              <a:solidFill>
                <a:srgbClr val="000000"/>
              </a:solidFill>
              <a:effectLst/>
              <a:uFillTx/>
              <a:latin typeface="Arial"/>
            </a:endParaRPr>
          </a:p>
        </p:txBody>
      </p:sp>
      <p:sp>
        <p:nvSpPr>
          <p:cNvPr id="71" name="TextBox 92"/>
          <p:cNvSpPr/>
          <p:nvPr/>
        </p:nvSpPr>
        <p:spPr>
          <a:xfrm>
            <a:off x="1756080" y="435960"/>
            <a:ext cx="20908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3600" b="1" u="none" strike="noStrike">
                <a:solidFill>
                  <a:srgbClr val="E81B25"/>
                </a:solidFill>
                <a:effectLst/>
                <a:uFillTx/>
                <a:latin typeface="Berlin Sans FB Demi"/>
                <a:ea typeface="SamsungOne 800"/>
              </a:rPr>
              <a:t>CLAWS</a:t>
            </a:r>
            <a:endParaRPr lang="en-US" sz="3600" b="0" u="none" strike="noStrike">
              <a:solidFill>
                <a:srgbClr val="000000"/>
              </a:solidFill>
              <a:effectLst/>
              <a:uFillTx/>
              <a:latin typeface="Arial"/>
            </a:endParaRPr>
          </a:p>
        </p:txBody>
      </p:sp>
      <p:sp>
        <p:nvSpPr>
          <p:cNvPr id="72" name="TextBox 99"/>
          <p:cNvSpPr/>
          <p:nvPr/>
        </p:nvSpPr>
        <p:spPr>
          <a:xfrm>
            <a:off x="614880" y="2459520"/>
            <a:ext cx="5132160" cy="316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4000" b="1" u="none" strike="noStrike" dirty="0">
                <a:solidFill>
                  <a:srgbClr val="E81B25"/>
                </a:solidFill>
                <a:effectLst/>
                <a:uFillTx/>
                <a:latin typeface="Berlin Sans FB Demi"/>
                <a:ea typeface="SamsungOne 800"/>
              </a:rPr>
              <a:t>MSRIT_VOID_CREW</a:t>
            </a:r>
            <a:endParaRPr lang="en-US" sz="4000" b="0" u="none" strike="noStrike" dirty="0">
              <a:solidFill>
                <a:srgbClr val="000000"/>
              </a:solidFill>
              <a:effectLst/>
              <a:uFillTx/>
              <a:latin typeface="Arial"/>
            </a:endParaRPr>
          </a:p>
          <a:p>
            <a:pPr algn="ctr" defTabSz="914400">
              <a:lnSpc>
                <a:spcPct val="100000"/>
              </a:lnSpc>
            </a:pPr>
            <a:r>
              <a:rPr lang="en-US" sz="2000" b="1" i="1" u="none" strike="noStrike" dirty="0">
                <a:solidFill>
                  <a:srgbClr val="FF0000"/>
                </a:solidFill>
                <a:effectLst/>
                <a:uFillTx/>
                <a:latin typeface="Berlin Sans FB Demi"/>
                <a:ea typeface="SamsungOne 800"/>
              </a:rPr>
              <a:t>Control your entire computer using natural language.</a:t>
            </a:r>
            <a:endParaRPr lang="en-US" sz="2000" b="0" u="none" strike="noStrike" dirty="0">
              <a:solidFill>
                <a:srgbClr val="000000"/>
              </a:solidFill>
              <a:effectLst/>
              <a:uFillTx/>
              <a:latin typeface="Arial"/>
            </a:endParaRPr>
          </a:p>
          <a:p>
            <a:pPr algn="ctr" defTabSz="914400">
              <a:lnSpc>
                <a:spcPct val="100000"/>
              </a:lnSpc>
            </a:pPr>
            <a:endParaRPr lang="en-US" sz="4000" b="0" u="none" strike="noStrike" dirty="0">
              <a:solidFill>
                <a:srgbClr val="000000"/>
              </a:solidFill>
              <a:effectLst/>
              <a:uFillTx/>
              <a:latin typeface="Arial"/>
            </a:endParaRPr>
          </a:p>
          <a:p>
            <a:pPr algn="ctr" defTabSz="914400">
              <a:lnSpc>
                <a:spcPct val="100000"/>
              </a:lnSpc>
            </a:pPr>
            <a:r>
              <a:rPr lang="en-US" sz="2000" b="1" u="none" strike="noStrike" dirty="0">
                <a:solidFill>
                  <a:schemeClr val="dk2"/>
                </a:solidFill>
                <a:effectLst/>
                <a:uFillTx/>
                <a:latin typeface="Berlin Sans FB Demi"/>
                <a:ea typeface="SamsungOne 800"/>
              </a:rPr>
              <a:t>Ayush Kumar</a:t>
            </a:r>
            <a:endParaRPr lang="en-US" sz="2000" b="0" u="none" strike="noStrike" dirty="0">
              <a:solidFill>
                <a:srgbClr val="000000"/>
              </a:solidFill>
              <a:effectLst/>
              <a:uFillTx/>
              <a:latin typeface="Arial"/>
            </a:endParaRPr>
          </a:p>
          <a:p>
            <a:pPr algn="ctr" defTabSz="914400">
              <a:lnSpc>
                <a:spcPct val="100000"/>
              </a:lnSpc>
            </a:pPr>
            <a:r>
              <a:rPr lang="en-US" sz="2000" b="1" u="none" strike="noStrike" dirty="0">
                <a:solidFill>
                  <a:schemeClr val="dk2"/>
                </a:solidFill>
                <a:effectLst/>
                <a:uFillTx/>
                <a:latin typeface="Berlin Sans FB Demi"/>
                <a:ea typeface="SamsungOne 800"/>
              </a:rPr>
              <a:t>Jaidev Narayan Singh</a:t>
            </a:r>
            <a:endParaRPr lang="en-US" sz="2000" b="0" u="none" strike="noStrike" dirty="0">
              <a:solidFill>
                <a:srgbClr val="000000"/>
              </a:solidFill>
              <a:effectLst/>
              <a:uFillTx/>
              <a:latin typeface="Arial"/>
            </a:endParaRPr>
          </a:p>
          <a:p>
            <a:pPr algn="ctr" defTabSz="914400">
              <a:lnSpc>
                <a:spcPct val="100000"/>
              </a:lnSpc>
            </a:pPr>
            <a:r>
              <a:rPr lang="en-US" sz="2000" b="1" u="none" strike="noStrike" dirty="0">
                <a:solidFill>
                  <a:schemeClr val="dk2"/>
                </a:solidFill>
                <a:effectLst/>
                <a:uFillTx/>
                <a:latin typeface="Berlin Sans FB Demi"/>
                <a:ea typeface="SamsungOne 800"/>
              </a:rPr>
              <a:t>Kovid Tyagi</a:t>
            </a:r>
            <a:endParaRPr lang="en-US" sz="2000" b="0" u="none" strike="noStrike" dirty="0">
              <a:solidFill>
                <a:srgbClr val="000000"/>
              </a:solidFill>
              <a:effectLst/>
              <a:uFillTx/>
              <a:latin typeface="Arial"/>
            </a:endParaRPr>
          </a:p>
          <a:p>
            <a:pPr algn="ctr" defTabSz="914400">
              <a:lnSpc>
                <a:spcPct val="100000"/>
              </a:lnSpc>
            </a:pPr>
            <a:r>
              <a:rPr lang="en-US" sz="2000" b="1" u="none" strike="noStrike" dirty="0">
                <a:solidFill>
                  <a:schemeClr val="dk2"/>
                </a:solidFill>
                <a:effectLst/>
                <a:uFillTx/>
                <a:latin typeface="Berlin Sans FB Demi"/>
                <a:ea typeface="SamsungOne 800"/>
              </a:rPr>
              <a:t>Chidakash Choudhury</a:t>
            </a:r>
            <a:endParaRPr lang="en-US" sz="2000" b="0" u="none" strike="noStrike" dirty="0">
              <a:solidFill>
                <a:srgbClr val="000000"/>
              </a:solidFill>
              <a:effectLst/>
              <a:uFillTx/>
              <a:latin typeface="Arial"/>
            </a:endParaRPr>
          </a:p>
        </p:txBody>
      </p:sp>
      <p:grpSp>
        <p:nvGrpSpPr>
          <p:cNvPr id="73" name="Group 1"/>
          <p:cNvGrpSpPr/>
          <p:nvPr/>
        </p:nvGrpSpPr>
        <p:grpSpPr>
          <a:xfrm>
            <a:off x="137520" y="46800"/>
            <a:ext cx="3813480" cy="638640"/>
            <a:chOff x="137520" y="46800"/>
            <a:chExt cx="3813480" cy="638640"/>
          </a:xfrm>
        </p:grpSpPr>
        <p:pic>
          <p:nvPicPr>
            <p:cNvPr id="74" name="Picture 20"/>
            <p:cNvPicPr/>
            <p:nvPr/>
          </p:nvPicPr>
          <p:blipFill>
            <a:blip r:embed="rId3"/>
            <a:stretch/>
          </p:blipFill>
          <p:spPr>
            <a:xfrm>
              <a:off x="137520" y="46800"/>
              <a:ext cx="974160" cy="638640"/>
            </a:xfrm>
            <a:prstGeom prst="rect">
              <a:avLst/>
            </a:prstGeom>
            <a:noFill/>
            <a:ln w="0">
              <a:noFill/>
            </a:ln>
          </p:spPr>
        </p:pic>
        <p:sp>
          <p:nvSpPr>
            <p:cNvPr id="75" name="TextBox 6"/>
            <p:cNvSpPr/>
            <p:nvPr/>
          </p:nvSpPr>
          <p:spPr>
            <a:xfrm>
              <a:off x="1017720" y="157320"/>
              <a:ext cx="29332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1" u="none" strike="noStrike">
                  <a:solidFill>
                    <a:schemeClr val="dk1"/>
                  </a:solidFill>
                  <a:effectLst/>
                  <a:uFillTx/>
                  <a:latin typeface="Berlin Sans FB Demi"/>
                  <a:ea typeface="SamsungOne 800"/>
                </a:rPr>
                <a:t>| Tech Management, SRI-B</a:t>
              </a:r>
              <a:endParaRPr lang="en-US" sz="1800" b="0" u="none" strike="noStrike">
                <a:solidFill>
                  <a:srgbClr val="000000"/>
                </a:solidFill>
                <a:effectLst/>
                <a:uFillTx/>
                <a:latin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77"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79"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Problem Statement</a:t>
            </a:r>
            <a:endParaRPr lang="en-US" sz="4270" b="0" u="none" strike="noStrike">
              <a:solidFill>
                <a:srgbClr val="000000"/>
              </a:solidFill>
              <a:effectLst/>
              <a:uFillTx/>
              <a:latin typeface="Arial"/>
            </a:endParaRPr>
          </a:p>
        </p:txBody>
      </p:sp>
      <p:sp>
        <p:nvSpPr>
          <p:cNvPr id="80"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sp>
        <p:nvSpPr>
          <p:cNvPr id="81" name="TextBox 8"/>
          <p:cNvSpPr/>
          <p:nvPr/>
        </p:nvSpPr>
        <p:spPr>
          <a:xfrm>
            <a:off x="740520" y="1523880"/>
            <a:ext cx="10841400" cy="397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buClr>
                <a:srgbClr val="000000"/>
              </a:buClr>
              <a:buFont typeface="Arial"/>
              <a:buChar char="•"/>
            </a:pPr>
            <a:r>
              <a:rPr lang="en-US" sz="1800" b="0" u="none" strike="noStrike">
                <a:solidFill>
                  <a:schemeClr val="dk1"/>
                </a:solidFill>
                <a:effectLst/>
                <a:uFillTx/>
                <a:latin typeface="Calibri"/>
              </a:rPr>
              <a:t>Current computer workflows are fragmented and inefficient. Users constantly switch between apps, files, and terminals just to complete simple tasks. Existing AI assistants can chat, but can't actually execute workflows autonomously.</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a:solidFill>
                  <a:schemeClr val="dk1"/>
                </a:solidFill>
                <a:effectLst/>
                <a:uFillTx/>
                <a:latin typeface="Calibri"/>
              </a:rPr>
              <a:t>That’s why, we chose the </a:t>
            </a:r>
            <a:r>
              <a:rPr lang="en-US" sz="1800" b="1" u="none" strike="noStrike">
                <a:solidFill>
                  <a:schemeClr val="dk1"/>
                </a:solidFill>
                <a:effectLst/>
                <a:uFillTx/>
                <a:latin typeface="Calibri"/>
              </a:rPr>
              <a:t>Productivity</a:t>
            </a:r>
            <a:r>
              <a:rPr lang="en-US" sz="1800" b="0" u="none" strike="noStrike">
                <a:solidFill>
                  <a:schemeClr val="dk1"/>
                </a:solidFill>
                <a:effectLst/>
                <a:uFillTx/>
                <a:latin typeface="Calibri"/>
              </a:rPr>
              <a:t> theme because the way people work today is broken at a fundamental level.</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a:solidFill>
                  <a:schemeClr val="dk1"/>
                </a:solidFill>
                <a:effectLst/>
                <a:uFillTx/>
                <a:latin typeface="Calibri"/>
              </a:rPr>
              <a:t>Every computer user loses hours daily not doing work, but navigating tools: opening apps, switching tabs, typing repetitive messages. There's no unified AI layer that understands intent and acts on it.</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a:solidFill>
                  <a:schemeClr val="dk1"/>
                </a:solidFill>
                <a:effectLst/>
                <a:uFillTx/>
                <a:latin typeface="Calibri"/>
              </a:rPr>
              <a:t>This affects everyone:</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Students: </a:t>
            </a:r>
            <a:r>
              <a:rPr lang="en-US" sz="1800" b="0" u="none" strike="noStrike">
                <a:solidFill>
                  <a:schemeClr val="dk1"/>
                </a:solidFill>
                <a:effectLst/>
                <a:uFillTx/>
                <a:latin typeface="Calibri"/>
              </a:rPr>
              <a:t>Juggling PDFs, notes, and meetings manually</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Professionals: </a:t>
            </a:r>
            <a:r>
              <a:rPr lang="en-US" sz="1800" b="0" u="none" strike="noStrike">
                <a:solidFill>
                  <a:schemeClr val="dk1"/>
                </a:solidFill>
                <a:effectLst/>
                <a:uFillTx/>
                <a:latin typeface="Calibri"/>
              </a:rPr>
              <a:t>Balancing emails, calendars, and files across tools</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Developers: </a:t>
            </a:r>
            <a:r>
              <a:rPr lang="en-US" sz="1800" b="0" u="none" strike="noStrike">
                <a:solidFill>
                  <a:schemeClr val="dk1"/>
                </a:solidFill>
                <a:effectLst/>
                <a:uFillTx/>
                <a:latin typeface="Calibri"/>
              </a:rPr>
              <a:t>Repeating setup workflows, commands, and tab management</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a:solidFill>
                  <a:schemeClr val="dk1"/>
                </a:solidFill>
                <a:effectLst/>
                <a:uFillTx/>
                <a:latin typeface="Calibri"/>
              </a:rPr>
              <a:t>Knowledge workers switch apps 300+ times a day, losing up to 2 hours daily to navigation overhead. Users have adapted remarkably well, but they shouldn't have to. Our tools should be working harder, not the other way around. Computers still make people adapt to them, not the other way around.</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83"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85"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Current Solution &amp; Gaps</a:t>
            </a:r>
            <a:endParaRPr lang="en-US" sz="4270" b="0" u="none" strike="noStrike">
              <a:solidFill>
                <a:srgbClr val="000000"/>
              </a:solidFill>
              <a:effectLst/>
              <a:uFillTx/>
              <a:latin typeface="Arial"/>
            </a:endParaRPr>
          </a:p>
        </p:txBody>
      </p:sp>
      <p:sp>
        <p:nvSpPr>
          <p:cNvPr id="86"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graphicFrame>
        <p:nvGraphicFramePr>
          <p:cNvPr id="87" name="Table 5"/>
          <p:cNvGraphicFramePr/>
          <p:nvPr/>
        </p:nvGraphicFramePr>
        <p:xfrm>
          <a:off x="740520" y="1867680"/>
          <a:ext cx="10515600" cy="152400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259920">
                <a:tc>
                  <a:txBody>
                    <a:bodyPr/>
                    <a:lstStyle/>
                    <a:p>
                      <a:pPr defTabSz="914400">
                        <a:lnSpc>
                          <a:spcPct val="100000"/>
                        </a:lnSpc>
                      </a:pPr>
                      <a:r>
                        <a:rPr lang="en-IN" sz="1400" b="1" u="none" strike="noStrike">
                          <a:solidFill>
                            <a:schemeClr val="lt1"/>
                          </a:solidFill>
                          <a:effectLst/>
                          <a:uFillTx/>
                          <a:latin typeface="Calibri"/>
                        </a:rPr>
                        <a:t>Tool</a:t>
                      </a:r>
                      <a:endParaRPr lang="en-US" sz="14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5"/>
                    </a:solidFill>
                  </a:tcPr>
                </a:tc>
                <a:tc>
                  <a:txBody>
                    <a:bodyPr/>
                    <a:lstStyle/>
                    <a:p>
                      <a:pPr defTabSz="914400">
                        <a:lnSpc>
                          <a:spcPct val="100000"/>
                        </a:lnSpc>
                      </a:pPr>
                      <a:r>
                        <a:rPr lang="en-IN" sz="1400" b="1" u="none" strike="noStrike">
                          <a:solidFill>
                            <a:schemeClr val="lt1"/>
                          </a:solidFill>
                          <a:effectLst/>
                          <a:uFillTx/>
                          <a:latin typeface="Calibri"/>
                        </a:rPr>
                        <a:t>What it does</a:t>
                      </a:r>
                      <a:endParaRPr lang="en-US" sz="14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5"/>
                    </a:solidFill>
                  </a:tcPr>
                </a:tc>
                <a:extLst>
                  <a:ext uri="{0D108BD9-81ED-4DB2-BD59-A6C34878D82A}">
                    <a16:rowId xmlns:a16="http://schemas.microsoft.com/office/drawing/2014/main" val="10000"/>
                  </a:ext>
                </a:extLst>
              </a:tr>
              <a:tr h="259920">
                <a:tc>
                  <a:txBody>
                    <a:bodyPr/>
                    <a:lstStyle/>
                    <a:p>
                      <a:pPr defTabSz="914400">
                        <a:lnSpc>
                          <a:spcPct val="100000"/>
                        </a:lnSpc>
                      </a:pPr>
                      <a:r>
                        <a:rPr lang="en-IN" sz="1400" b="0" u="none" strike="noStrike">
                          <a:solidFill>
                            <a:schemeClr val="dk1"/>
                          </a:solidFill>
                          <a:effectLst/>
                          <a:uFillTx/>
                          <a:latin typeface="Calibri"/>
                        </a:rPr>
                        <a:t>Cortana, Siri, Alexa</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5">
                        <a:tint val="20000"/>
                      </a:schemeClr>
                    </a:solidFill>
                  </a:tcPr>
                </a:tc>
                <a:tc>
                  <a:txBody>
                    <a:bodyPr/>
                    <a:lstStyle/>
                    <a:p>
                      <a:pPr defTabSz="914400">
                        <a:lnSpc>
                          <a:spcPct val="100000"/>
                        </a:lnSpc>
                      </a:pPr>
                      <a:r>
                        <a:rPr lang="en-US" sz="1400" b="0" u="none" strike="noStrike">
                          <a:solidFill>
                            <a:schemeClr val="dk1"/>
                          </a:solidFill>
                          <a:effectLst/>
                          <a:uFillTx/>
                          <a:latin typeface="Calibri"/>
                        </a:rPr>
                        <a:t>Answer questions, set reminders only</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5">
                        <a:tint val="20000"/>
                      </a:schemeClr>
                    </a:solidFill>
                  </a:tcPr>
                </a:tc>
                <a:extLst>
                  <a:ext uri="{0D108BD9-81ED-4DB2-BD59-A6C34878D82A}">
                    <a16:rowId xmlns:a16="http://schemas.microsoft.com/office/drawing/2014/main" val="10001"/>
                  </a:ext>
                </a:extLst>
              </a:tr>
              <a:tr h="259920">
                <a:tc>
                  <a:txBody>
                    <a:bodyPr/>
                    <a:lstStyle/>
                    <a:p>
                      <a:pPr defTabSz="914400">
                        <a:lnSpc>
                          <a:spcPct val="100000"/>
                        </a:lnSpc>
                      </a:pPr>
                      <a:r>
                        <a:rPr lang="en-IN" sz="1400" b="0" u="none" strike="noStrike">
                          <a:solidFill>
                            <a:schemeClr val="dk1"/>
                          </a:solidFill>
                          <a:effectLst/>
                          <a:uFillTx/>
                          <a:latin typeface="Calibri"/>
                        </a:rPr>
                        <a:t>ChatGPT, Copilot desktop</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tc>
                  <a:txBody>
                    <a:bodyPr/>
                    <a:lstStyle/>
                    <a:p>
                      <a:pPr defTabSz="914400">
                        <a:lnSpc>
                          <a:spcPct val="100000"/>
                        </a:lnSpc>
                      </a:pPr>
                      <a:r>
                        <a:rPr lang="en-US" sz="1400" b="0" u="none" strike="noStrike">
                          <a:solidFill>
                            <a:schemeClr val="dk1"/>
                          </a:solidFill>
                          <a:effectLst/>
                          <a:uFillTx/>
                          <a:latin typeface="Calibri"/>
                        </a:rPr>
                        <a:t>Conversational AI but cannot act on your computer</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extLst>
                  <a:ext uri="{0D108BD9-81ED-4DB2-BD59-A6C34878D82A}">
                    <a16:rowId xmlns:a16="http://schemas.microsoft.com/office/drawing/2014/main" val="10002"/>
                  </a:ext>
                </a:extLst>
              </a:tr>
              <a:tr h="259920">
                <a:tc>
                  <a:txBody>
                    <a:bodyPr/>
                    <a:lstStyle/>
                    <a:p>
                      <a:pPr defTabSz="914400">
                        <a:lnSpc>
                          <a:spcPct val="100000"/>
                        </a:lnSpc>
                      </a:pPr>
                      <a:r>
                        <a:rPr lang="en-IN" sz="1400" b="0" u="none" strike="noStrike">
                          <a:solidFill>
                            <a:schemeClr val="dk1"/>
                          </a:solidFill>
                          <a:effectLst/>
                          <a:uFillTx/>
                          <a:latin typeface="Calibri"/>
                        </a:rPr>
                        <a:t>Zapier, Make.com</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tc>
                  <a:txBody>
                    <a:bodyPr/>
                    <a:lstStyle/>
                    <a:p>
                      <a:pPr defTabSz="914400">
                        <a:lnSpc>
                          <a:spcPct val="100000"/>
                        </a:lnSpc>
                      </a:pPr>
                      <a:r>
                        <a:rPr lang="en-US" sz="1400" b="0" u="none" strike="noStrike">
                          <a:solidFill>
                            <a:schemeClr val="dk1"/>
                          </a:solidFill>
                          <a:effectLst/>
                          <a:uFillTx/>
                          <a:latin typeface="Calibri"/>
                        </a:rPr>
                        <a:t>Automates workflows but needs pre-built rules, no natural language</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extLst>
                  <a:ext uri="{0D108BD9-81ED-4DB2-BD59-A6C34878D82A}">
                    <a16:rowId xmlns:a16="http://schemas.microsoft.com/office/drawing/2014/main" val="10003"/>
                  </a:ext>
                </a:extLst>
              </a:tr>
              <a:tr h="259920">
                <a:tc>
                  <a:txBody>
                    <a:bodyPr/>
                    <a:lstStyle/>
                    <a:p>
                      <a:pPr defTabSz="914400">
                        <a:lnSpc>
                          <a:spcPct val="100000"/>
                        </a:lnSpc>
                      </a:pPr>
                      <a:r>
                        <a:rPr lang="en-IN" sz="1400" b="0" u="none" strike="noStrike">
                          <a:solidFill>
                            <a:schemeClr val="dk1"/>
                          </a:solidFill>
                          <a:effectLst/>
                          <a:uFillTx/>
                          <a:latin typeface="Calibri"/>
                        </a:rPr>
                        <a:t>OpenAI Operator, Browser Use</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tc>
                  <a:txBody>
                    <a:bodyPr/>
                    <a:lstStyle/>
                    <a:p>
                      <a:pPr defTabSz="914400">
                        <a:lnSpc>
                          <a:spcPct val="100000"/>
                        </a:lnSpc>
                      </a:pPr>
                      <a:r>
                        <a:rPr lang="en-US" sz="1400" b="0" u="none" strike="noStrike">
                          <a:solidFill>
                            <a:schemeClr val="dk1"/>
                          </a:solidFill>
                          <a:effectLst/>
                          <a:uFillTx/>
                          <a:latin typeface="Calibri"/>
                        </a:rPr>
                        <a:t>Browser-only agents, can't touch local files or native apps</a:t>
                      </a:r>
                      <a:endParaRPr lang="en-US" sz="14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5">
                        <a:tint val="20000"/>
                      </a:schemeClr>
                    </a:solidFill>
                  </a:tcPr>
                </a:tc>
                <a:extLst>
                  <a:ext uri="{0D108BD9-81ED-4DB2-BD59-A6C34878D82A}">
                    <a16:rowId xmlns:a16="http://schemas.microsoft.com/office/drawing/2014/main" val="10004"/>
                  </a:ext>
                </a:extLst>
              </a:tr>
            </a:tbl>
          </a:graphicData>
        </a:graphic>
      </p:graphicFrame>
      <p:sp>
        <p:nvSpPr>
          <p:cNvPr id="88" name="Rectangle 1"/>
          <p:cNvSpPr/>
          <p:nvPr/>
        </p:nvSpPr>
        <p:spPr>
          <a:xfrm>
            <a:off x="675360" y="1414080"/>
            <a:ext cx="2420640" cy="676800"/>
          </a:xfrm>
          <a:prstGeom prst="rect">
            <a:avLst/>
          </a:prstGeom>
          <a:noFill/>
          <a:ln w="0">
            <a:noFill/>
          </a:ln>
        </p:spPr>
        <p:style>
          <a:lnRef idx="0">
            <a:scrgbClr r="0" g="0" b="0"/>
          </a:lnRef>
          <a:fillRef idx="0">
            <a:scrgbClr r="0" g="0" b="0"/>
          </a:fillRef>
          <a:effectRef idx="0">
            <a:scrgbClr r="0" g="0" b="0"/>
          </a:effectRef>
          <a:fontRef idx="minor"/>
        </p:style>
        <p:txBody>
          <a:bodyPr wrap="none" numCol="1" spcCol="0" anchor="ctr">
            <a:spAutoFit/>
          </a:bodyPr>
          <a:lstStyle/>
          <a:p>
            <a:pPr defTabSz="914400">
              <a:lnSpc>
                <a:spcPct val="100000"/>
              </a:lnSpc>
              <a:tabLst>
                <a:tab pos="0" algn="l"/>
              </a:tabLst>
            </a:pPr>
            <a:r>
              <a:rPr lang="en-US" sz="2000" b="1" u="none" strike="noStrike">
                <a:solidFill>
                  <a:schemeClr val="dk1"/>
                </a:solidFill>
                <a:effectLst/>
                <a:uFillTx/>
                <a:latin typeface="Arial"/>
              </a:rPr>
              <a:t>Existing Solutions</a:t>
            </a:r>
            <a:endParaRPr lang="en-US" sz="2000" b="0" u="none" strike="noStrike">
              <a:solidFill>
                <a:srgbClr val="000000"/>
              </a:solidFill>
              <a:effectLst/>
              <a:uFillTx/>
              <a:latin typeface="Arial"/>
            </a:endParaRPr>
          </a:p>
          <a:p>
            <a:pPr defTabSz="914400">
              <a:lnSpc>
                <a:spcPct val="100000"/>
              </a:lnSpc>
              <a:tabLst>
                <a:tab pos="0" algn="l"/>
              </a:tabLst>
            </a:pPr>
            <a:endParaRPr lang="en-US" sz="1800" b="0" u="none" strike="noStrike">
              <a:solidFill>
                <a:srgbClr val="000000"/>
              </a:solidFill>
              <a:effectLst/>
              <a:uFillTx/>
              <a:latin typeface="Arial"/>
            </a:endParaRPr>
          </a:p>
        </p:txBody>
      </p:sp>
      <p:sp>
        <p:nvSpPr>
          <p:cNvPr id="89" name="TextBox 10"/>
          <p:cNvSpPr/>
          <p:nvPr/>
        </p:nvSpPr>
        <p:spPr>
          <a:xfrm>
            <a:off x="675360" y="3466440"/>
            <a:ext cx="5120280" cy="310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1" u="none" strike="noStrike">
                <a:solidFill>
                  <a:schemeClr val="dk1"/>
                </a:solidFill>
                <a:effectLst/>
                <a:uFillTx/>
                <a:latin typeface="Calibri"/>
              </a:rPr>
              <a:t>What’s Missing / What’s Broken?</a:t>
            </a:r>
            <a:endParaRPr lang="en-US" sz="20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Calibri"/>
              </a:rPr>
              <a:t>All available products address only one aspect and none integrate browser, files, terminal, and messages.</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Calibri"/>
              </a:rPr>
              <a:t>They need manual configuration (script, rules, APIs) or can only respond (provide the answer, but not do anything).</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Calibri"/>
              </a:rPr>
              <a:t>No history or memory, each execution resets the slate; there is nothing learned from previous executions.</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Calibri"/>
              </a:rPr>
              <a:t>No rollback failure at any point crashes the whole process without recovery.</a:t>
            </a:r>
            <a:endParaRPr lang="en-US" sz="16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600" b="0" u="none" strike="noStrike">
                <a:solidFill>
                  <a:schemeClr val="dk1"/>
                </a:solidFill>
                <a:effectLst/>
                <a:uFillTx/>
                <a:latin typeface="Calibri"/>
              </a:rPr>
              <a:t>Can’t control Windows applications or native desktop workflows.</a:t>
            </a:r>
            <a:endParaRPr lang="en-US" sz="1600" b="0" u="none" strike="noStrike">
              <a:solidFill>
                <a:srgbClr val="000000"/>
              </a:solidFill>
              <a:effectLst/>
              <a:uFillTx/>
              <a:latin typeface="Arial"/>
            </a:endParaRPr>
          </a:p>
        </p:txBody>
      </p:sp>
      <p:sp>
        <p:nvSpPr>
          <p:cNvPr id="90" name="TextBox 14"/>
          <p:cNvSpPr/>
          <p:nvPr/>
        </p:nvSpPr>
        <p:spPr>
          <a:xfrm>
            <a:off x="5998320" y="3466440"/>
            <a:ext cx="6102000" cy="215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1" u="none" strike="noStrike">
                <a:solidFill>
                  <a:schemeClr val="dk1"/>
                </a:solidFill>
                <a:effectLst/>
                <a:uFillTx/>
                <a:latin typeface="Calibri"/>
              </a:rPr>
              <a:t>Opportunity</a:t>
            </a:r>
            <a:endParaRPr lang="en-US" sz="20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alibri"/>
              </a:rPr>
              <a:t>Build an AI operating layer that:</a:t>
            </a:r>
            <a:endParaRPr lang="en-US" sz="1600" b="0" u="none" strike="noStrike">
              <a:solidFill>
                <a:srgbClr val="000000"/>
              </a:solidFill>
              <a:effectLst/>
              <a:uFillTx/>
              <a:latin typeface="Arial"/>
            </a:endParaRPr>
          </a:p>
          <a:p>
            <a:pPr marL="457200" lvl="1" indent="-216000" defTabSz="914400">
              <a:lnSpc>
                <a:spcPct val="100000"/>
              </a:lnSpc>
              <a:buClr>
                <a:srgbClr val="000000"/>
              </a:buClr>
              <a:buFont typeface="Arial"/>
              <a:buChar char="•"/>
            </a:pPr>
            <a:r>
              <a:rPr lang="en-US" sz="1600" b="0" u="none" strike="noStrike">
                <a:solidFill>
                  <a:schemeClr val="dk1"/>
                </a:solidFill>
                <a:effectLst/>
                <a:uFillTx/>
                <a:latin typeface="Calibri"/>
              </a:rPr>
              <a:t> Understands natural language </a:t>
            </a:r>
            <a:endParaRPr lang="en-US" sz="1600" b="0" u="none" strike="noStrike">
              <a:solidFill>
                <a:srgbClr val="000000"/>
              </a:solidFill>
              <a:effectLst/>
              <a:uFillTx/>
              <a:latin typeface="Arial"/>
            </a:endParaRPr>
          </a:p>
          <a:p>
            <a:pPr marL="457200" lvl="1" indent="-216000" defTabSz="914400">
              <a:lnSpc>
                <a:spcPct val="100000"/>
              </a:lnSpc>
              <a:buClr>
                <a:srgbClr val="000000"/>
              </a:buClr>
              <a:buFont typeface="Arial"/>
              <a:buChar char="•"/>
            </a:pPr>
            <a:r>
              <a:rPr lang="en-US" sz="1600" b="0" u="none" strike="noStrike">
                <a:solidFill>
                  <a:schemeClr val="dk1"/>
                </a:solidFill>
                <a:effectLst/>
                <a:uFillTx/>
                <a:latin typeface="Calibri"/>
              </a:rPr>
              <a:t> Automates complete workflows </a:t>
            </a:r>
            <a:endParaRPr lang="en-US" sz="1600" b="0" u="none" strike="noStrike">
              <a:solidFill>
                <a:srgbClr val="000000"/>
              </a:solidFill>
              <a:effectLst/>
              <a:uFillTx/>
              <a:latin typeface="Arial"/>
            </a:endParaRPr>
          </a:p>
          <a:p>
            <a:pPr marL="457200" lvl="1" indent="-216000" defTabSz="914400">
              <a:lnSpc>
                <a:spcPct val="100000"/>
              </a:lnSpc>
              <a:buClr>
                <a:srgbClr val="000000"/>
              </a:buClr>
              <a:buFont typeface="Arial"/>
              <a:buChar char="•"/>
            </a:pPr>
            <a:r>
              <a:rPr lang="en-US" sz="1600" b="0" u="none" strike="noStrike">
                <a:solidFill>
                  <a:schemeClr val="dk1"/>
                </a:solidFill>
                <a:effectLst/>
                <a:uFillTx/>
                <a:latin typeface="Calibri"/>
              </a:rPr>
              <a:t> Controls browser, apps, files &amp; messaging </a:t>
            </a:r>
            <a:endParaRPr lang="en-US" sz="1600" b="0" u="none" strike="noStrike">
              <a:solidFill>
                <a:srgbClr val="000000"/>
              </a:solidFill>
              <a:effectLst/>
              <a:uFillTx/>
              <a:latin typeface="Arial"/>
            </a:endParaRPr>
          </a:p>
          <a:p>
            <a:pPr marL="457200" lvl="1" indent="-216000" defTabSz="914400">
              <a:lnSpc>
                <a:spcPct val="100000"/>
              </a:lnSpc>
              <a:buClr>
                <a:srgbClr val="000000"/>
              </a:buClr>
              <a:buFont typeface="Arial"/>
              <a:buChar char="•"/>
            </a:pPr>
            <a:r>
              <a:rPr lang="en-US" sz="1600" b="0" u="none" strike="noStrike">
                <a:solidFill>
                  <a:schemeClr val="dk1"/>
                </a:solidFill>
                <a:effectLst/>
                <a:uFillTx/>
                <a:latin typeface="Calibri"/>
              </a:rPr>
              <a:t> Learns from previous tasks </a:t>
            </a:r>
            <a:endParaRPr lang="en-US" sz="1600" b="0" u="none" strike="noStrike">
              <a:solidFill>
                <a:srgbClr val="000000"/>
              </a:solidFill>
              <a:effectLst/>
              <a:uFillTx/>
              <a:latin typeface="Arial"/>
            </a:endParaRPr>
          </a:p>
          <a:p>
            <a:pPr marL="457200" lvl="1" indent="-216000" defTabSz="914400">
              <a:lnSpc>
                <a:spcPct val="100000"/>
              </a:lnSpc>
              <a:buClr>
                <a:srgbClr val="000000"/>
              </a:buClr>
              <a:buFont typeface="Arial"/>
              <a:buChar char="•"/>
            </a:pPr>
            <a:r>
              <a:rPr lang="en-US" sz="1600" b="0" u="none" strike="noStrike">
                <a:solidFill>
                  <a:schemeClr val="dk1"/>
                </a:solidFill>
                <a:effectLst/>
                <a:uFillTx/>
                <a:latin typeface="Calibri"/>
              </a:rPr>
              <a:t> Reduces repetitive computer work</a:t>
            </a:r>
            <a:endParaRPr lang="en-US" sz="16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92"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94"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Your Solutions</a:t>
            </a:r>
            <a:endParaRPr lang="en-US" sz="4270" b="0" u="none" strike="noStrike">
              <a:solidFill>
                <a:srgbClr val="000000"/>
              </a:solidFill>
              <a:effectLst/>
              <a:uFillTx/>
              <a:latin typeface="Arial"/>
            </a:endParaRPr>
          </a:p>
        </p:txBody>
      </p:sp>
      <p:sp>
        <p:nvSpPr>
          <p:cNvPr id="95" name="TextBox 8"/>
          <p:cNvSpPr/>
          <p:nvPr/>
        </p:nvSpPr>
        <p:spPr>
          <a:xfrm>
            <a:off x="608760" y="1398600"/>
            <a:ext cx="7279560" cy="166176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US" sz="1700" b="0" u="none" strike="noStrike">
                <a:solidFill>
                  <a:schemeClr val="dk1"/>
                </a:solidFill>
                <a:effectLst/>
                <a:uFillTx/>
                <a:latin typeface="Calibri"/>
                <a:ea typeface="Calibri"/>
              </a:rPr>
              <a:t>IntentOS is an intent-based AI operating layer that enables users to control their computer using natural language. Instead of manually switching between apps, browsers, files, and messaging platforms, users simply describe the task, and the system executes the workflow automatically.</a:t>
            </a:r>
            <a:endParaRPr lang="en-US" sz="1700" b="0" u="none" strike="noStrike">
              <a:solidFill>
                <a:srgbClr val="000000"/>
              </a:solidFill>
              <a:effectLst/>
              <a:uFillTx/>
              <a:latin typeface="Arial"/>
            </a:endParaRPr>
          </a:p>
          <a:p>
            <a:pPr defTabSz="914400">
              <a:lnSpc>
                <a:spcPct val="100000"/>
              </a:lnSpc>
            </a:pPr>
            <a:r>
              <a:rPr lang="en-US" sz="1700" b="0" u="none" strike="noStrike">
                <a:solidFill>
                  <a:schemeClr val="dk1"/>
                </a:solidFill>
                <a:effectLst/>
                <a:uFillTx/>
                <a:latin typeface="Calibri"/>
                <a:ea typeface="Calibri"/>
              </a:rPr>
              <a:t>The platform combines AI reasoning, browser automation, desktop control, workflow memory, and recovery into a unified execution system.</a:t>
            </a:r>
            <a:endParaRPr lang="en-US" sz="1700" b="0" u="none" strike="noStrike">
              <a:solidFill>
                <a:srgbClr val="000000"/>
              </a:solidFill>
              <a:effectLst/>
              <a:uFillTx/>
              <a:latin typeface="Arial"/>
            </a:endParaRPr>
          </a:p>
        </p:txBody>
      </p:sp>
      <p:pic>
        <p:nvPicPr>
          <p:cNvPr id="96" name="Picture 14"/>
          <p:cNvPicPr/>
          <p:nvPr/>
        </p:nvPicPr>
        <p:blipFill>
          <a:blip r:embed="rId3"/>
          <a:stretch/>
        </p:blipFill>
        <p:spPr>
          <a:xfrm>
            <a:off x="8030160" y="808200"/>
            <a:ext cx="3899520" cy="5712840"/>
          </a:xfrm>
          <a:prstGeom prst="rect">
            <a:avLst/>
          </a:prstGeom>
          <a:noFill/>
          <a:ln w="0">
            <a:noFill/>
          </a:ln>
        </p:spPr>
      </p:pic>
      <p:pic>
        <p:nvPicPr>
          <p:cNvPr id="97" name="Picture 96"/>
          <p:cNvPicPr/>
          <p:nvPr/>
        </p:nvPicPr>
        <p:blipFill>
          <a:blip r:embed="rId4"/>
          <a:stretch/>
        </p:blipFill>
        <p:spPr>
          <a:xfrm>
            <a:off x="457200" y="3200400"/>
            <a:ext cx="5715000" cy="347508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99"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01"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Demo/Product Walkthrough</a:t>
            </a:r>
            <a:endParaRPr lang="en-US" sz="4270" b="0" u="none" strike="noStrike">
              <a:solidFill>
                <a:srgbClr val="000000"/>
              </a:solidFill>
              <a:effectLst/>
              <a:uFillTx/>
              <a:latin typeface="Arial"/>
            </a:endParaRPr>
          </a:p>
        </p:txBody>
      </p:sp>
      <p:sp>
        <p:nvSpPr>
          <p:cNvPr id="102"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pic>
        <p:nvPicPr>
          <p:cNvPr id="103" name="Picture 23"/>
          <p:cNvPicPr/>
          <p:nvPr/>
        </p:nvPicPr>
        <p:blipFill>
          <a:blip r:embed="rId3"/>
          <a:stretch/>
        </p:blipFill>
        <p:spPr>
          <a:xfrm>
            <a:off x="0" y="1464840"/>
            <a:ext cx="12191760" cy="1049760"/>
          </a:xfrm>
          <a:prstGeom prst="rect">
            <a:avLst/>
          </a:prstGeom>
          <a:noFill/>
          <a:ln w="0">
            <a:noFill/>
          </a:ln>
        </p:spPr>
      </p:pic>
      <p:pic>
        <p:nvPicPr>
          <p:cNvPr id="104" name="Picture 25"/>
          <p:cNvPicPr/>
          <p:nvPr/>
        </p:nvPicPr>
        <p:blipFill>
          <a:blip r:embed="rId4"/>
          <a:stretch/>
        </p:blipFill>
        <p:spPr>
          <a:xfrm>
            <a:off x="3845520" y="3124800"/>
            <a:ext cx="3533400" cy="2827440"/>
          </a:xfrm>
          <a:prstGeom prst="rect">
            <a:avLst/>
          </a:prstGeom>
          <a:noFill/>
          <a:ln w="0">
            <a:noFill/>
          </a:ln>
        </p:spPr>
      </p:pic>
      <p:sp>
        <p:nvSpPr>
          <p:cNvPr id="105" name="Arrow: Down 29"/>
          <p:cNvSpPr/>
          <p:nvPr/>
        </p:nvSpPr>
        <p:spPr>
          <a:xfrm>
            <a:off x="1398240" y="2589480"/>
            <a:ext cx="186120" cy="456840"/>
          </a:xfrm>
          <a:prstGeom prst="down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N" sz="1800" b="0" u="none" strike="noStrike">
              <a:solidFill>
                <a:schemeClr val="lt1"/>
              </a:solidFill>
              <a:effectLst/>
              <a:uFillTx/>
              <a:latin typeface="Calibri"/>
            </a:endParaRPr>
          </a:p>
        </p:txBody>
      </p:sp>
      <p:sp>
        <p:nvSpPr>
          <p:cNvPr id="106" name="Arrow: Right 32"/>
          <p:cNvSpPr/>
          <p:nvPr/>
        </p:nvSpPr>
        <p:spPr>
          <a:xfrm>
            <a:off x="3236040" y="4320000"/>
            <a:ext cx="495720" cy="16992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39960" rIns="90000" bIns="39960" anchor="ctr">
            <a:noAutofit/>
          </a:bodyPr>
          <a:lstStyle/>
          <a:p>
            <a:endParaRPr lang="en-IN" sz="1800" b="0" u="none" strike="noStrike">
              <a:solidFill>
                <a:schemeClr val="lt1"/>
              </a:solidFill>
              <a:effectLst/>
              <a:uFillTx/>
              <a:latin typeface="Calibri"/>
            </a:endParaRPr>
          </a:p>
        </p:txBody>
      </p:sp>
      <p:pic>
        <p:nvPicPr>
          <p:cNvPr id="107" name="Picture 34"/>
          <p:cNvPicPr/>
          <p:nvPr/>
        </p:nvPicPr>
        <p:blipFill>
          <a:blip r:embed="rId5"/>
          <a:stretch/>
        </p:blipFill>
        <p:spPr>
          <a:xfrm>
            <a:off x="8727840" y="2589480"/>
            <a:ext cx="3114720" cy="2152440"/>
          </a:xfrm>
          <a:prstGeom prst="rect">
            <a:avLst/>
          </a:prstGeom>
          <a:noFill/>
          <a:ln w="0">
            <a:noFill/>
          </a:ln>
        </p:spPr>
      </p:pic>
      <p:pic>
        <p:nvPicPr>
          <p:cNvPr id="108" name="Picture 42"/>
          <p:cNvPicPr/>
          <p:nvPr/>
        </p:nvPicPr>
        <p:blipFill>
          <a:blip r:embed="rId6"/>
          <a:stretch/>
        </p:blipFill>
        <p:spPr>
          <a:xfrm>
            <a:off x="8727840" y="4780800"/>
            <a:ext cx="3114720" cy="2076840"/>
          </a:xfrm>
          <a:prstGeom prst="rect">
            <a:avLst/>
          </a:prstGeom>
          <a:noFill/>
          <a:ln w="0">
            <a:noFill/>
          </a:ln>
        </p:spPr>
      </p:pic>
      <p:sp>
        <p:nvSpPr>
          <p:cNvPr id="109" name="Arrow: Right 49"/>
          <p:cNvSpPr/>
          <p:nvPr/>
        </p:nvSpPr>
        <p:spPr>
          <a:xfrm>
            <a:off x="7611120" y="3665880"/>
            <a:ext cx="812520" cy="3207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N" sz="1800" b="0" u="none" strike="noStrike">
              <a:solidFill>
                <a:schemeClr val="lt1"/>
              </a:solidFill>
              <a:effectLst/>
              <a:uFillTx/>
              <a:latin typeface="Calibri"/>
            </a:endParaRPr>
          </a:p>
        </p:txBody>
      </p:sp>
      <p:sp>
        <p:nvSpPr>
          <p:cNvPr id="110" name="Arrow: Right 50"/>
          <p:cNvSpPr/>
          <p:nvPr/>
        </p:nvSpPr>
        <p:spPr>
          <a:xfrm>
            <a:off x="7611120" y="4952880"/>
            <a:ext cx="812520" cy="3207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N" sz="1800" b="0" u="none" strike="noStrike">
              <a:solidFill>
                <a:schemeClr val="lt1"/>
              </a:solidFill>
              <a:effectLst/>
              <a:uFillTx/>
              <a:latin typeface="Calibri"/>
            </a:endParaRPr>
          </a:p>
        </p:txBody>
      </p:sp>
      <p:pic>
        <p:nvPicPr>
          <p:cNvPr id="111" name="Picture 52"/>
          <p:cNvPicPr/>
          <p:nvPr/>
        </p:nvPicPr>
        <p:blipFill>
          <a:blip r:embed="rId7"/>
          <a:stretch/>
        </p:blipFill>
        <p:spPr>
          <a:xfrm>
            <a:off x="252000" y="3124800"/>
            <a:ext cx="2880720" cy="292896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113"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4"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15"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Tech &amp; Architecture</a:t>
            </a:r>
            <a:endParaRPr lang="en-US" sz="4270" b="0" u="none" strike="noStrike">
              <a:solidFill>
                <a:srgbClr val="000000"/>
              </a:solidFill>
              <a:effectLst/>
              <a:uFillTx/>
              <a:latin typeface="Arial"/>
            </a:endParaRPr>
          </a:p>
        </p:txBody>
      </p:sp>
      <p:sp>
        <p:nvSpPr>
          <p:cNvPr id="116"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sp>
        <p:nvSpPr>
          <p:cNvPr id="117" name="TextBox 8"/>
          <p:cNvSpPr/>
          <p:nvPr/>
        </p:nvSpPr>
        <p:spPr>
          <a:xfrm>
            <a:off x="740520" y="1504080"/>
            <a:ext cx="6417000" cy="4308872"/>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IN" sz="1800" b="1" u="none" strike="noStrike" dirty="0">
                <a:solidFill>
                  <a:schemeClr val="dk1"/>
                </a:solidFill>
                <a:effectLst/>
                <a:uFillTx/>
                <a:latin typeface="Calibri"/>
                <a:ea typeface="Calibri"/>
              </a:rPr>
              <a:t>Tech Stack</a:t>
            </a:r>
            <a:endParaRPr lang="en-US" sz="18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Frontend: React.js, Vite</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Backend: Python, </a:t>
            </a:r>
            <a:r>
              <a:rPr lang="en-IN" sz="1700" b="0" u="none" strike="noStrike" dirty="0" err="1">
                <a:solidFill>
                  <a:schemeClr val="dk1"/>
                </a:solidFill>
                <a:effectLst/>
                <a:uFillTx/>
                <a:latin typeface="Calibri"/>
                <a:ea typeface="Calibri"/>
              </a:rPr>
              <a:t>FastAPI</a:t>
            </a:r>
            <a:r>
              <a:rPr lang="en-IN" sz="1700" dirty="0">
                <a:solidFill>
                  <a:schemeClr val="dk1"/>
                </a:solidFill>
                <a:latin typeface="Calibri"/>
                <a:ea typeface="Calibri"/>
              </a:rPr>
              <a:t>,</a:t>
            </a:r>
            <a:r>
              <a:rPr lang="en-IN" sz="1700" b="0" u="none" strike="noStrike" dirty="0">
                <a:solidFill>
                  <a:schemeClr val="dk1"/>
                </a:solidFill>
                <a:effectLst/>
                <a:uFillTx/>
                <a:latin typeface="Calibri"/>
                <a:ea typeface="Calibri"/>
              </a:rPr>
              <a:t> WebSocket</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AI Orchestration: Pi Engine, Planner → Executor → Recovery</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LLM: Gemini 2.5 Flash, intent parsing &amp; planning</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Memory: </a:t>
            </a:r>
            <a:r>
              <a:rPr lang="en-IN" sz="1700" b="0" u="none" strike="noStrike" dirty="0" err="1">
                <a:solidFill>
                  <a:schemeClr val="dk1"/>
                </a:solidFill>
                <a:effectLst/>
                <a:uFillTx/>
                <a:latin typeface="Calibri"/>
                <a:ea typeface="Calibri"/>
              </a:rPr>
              <a:t>ChromaDB</a:t>
            </a:r>
            <a:r>
              <a:rPr lang="en-IN" sz="1700" b="0" u="none" strike="noStrike" dirty="0">
                <a:solidFill>
                  <a:schemeClr val="dk1"/>
                </a:solidFill>
                <a:effectLst/>
                <a:uFillTx/>
                <a:latin typeface="Calibri"/>
                <a:ea typeface="Calibri"/>
              </a:rPr>
              <a:t> and Sentence Transformers, workflow recall</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Browser: Playwright </a:t>
            </a:r>
            <a:r>
              <a:rPr lang="en-IN" sz="1700" dirty="0">
                <a:solidFill>
                  <a:schemeClr val="dk1"/>
                </a:solidFill>
                <a:latin typeface="Calibri"/>
                <a:ea typeface="Calibri"/>
              </a:rPr>
              <a:t>with</a:t>
            </a:r>
            <a:r>
              <a:rPr lang="en-IN" sz="1700" b="0" u="none" strike="noStrike" dirty="0">
                <a:solidFill>
                  <a:schemeClr val="dk1"/>
                </a:solidFill>
                <a:effectLst/>
                <a:uFillTx/>
                <a:latin typeface="Calibri"/>
                <a:ea typeface="Calibri"/>
              </a:rPr>
              <a:t> Chrome Extension (Manifest V3)</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Messaging: WhatsApp &amp; Telegram via desktop automation</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Terminal: PowerShell subprocess execution</a:t>
            </a:r>
            <a:endParaRPr lang="en-US" sz="1700" b="0" u="none" strike="noStrike" dirty="0">
              <a:solidFill>
                <a:srgbClr val="000000"/>
              </a:solidFill>
              <a:effectLst/>
              <a:uFillTx/>
              <a:latin typeface="Arial"/>
            </a:endParaRPr>
          </a:p>
          <a:p>
            <a:pPr defTabSz="914400">
              <a:lnSpc>
                <a:spcPct val="100000"/>
              </a:lnSpc>
            </a:pPr>
            <a:endParaRPr lang="en-US" sz="1700" b="0" u="none" strike="noStrike" dirty="0">
              <a:solidFill>
                <a:srgbClr val="000000"/>
              </a:solidFill>
              <a:effectLst/>
              <a:uFillTx/>
              <a:latin typeface="Arial"/>
            </a:endParaRPr>
          </a:p>
          <a:p>
            <a:pPr defTabSz="914400">
              <a:lnSpc>
                <a:spcPct val="100000"/>
              </a:lnSpc>
            </a:pPr>
            <a:r>
              <a:rPr lang="en-IN" sz="1800" b="1" u="none" strike="noStrike" dirty="0">
                <a:solidFill>
                  <a:schemeClr val="dk1"/>
                </a:solidFill>
                <a:effectLst/>
                <a:uFillTx/>
                <a:latin typeface="Calibri"/>
                <a:ea typeface="Calibri"/>
              </a:rPr>
              <a:t>AI Usage</a:t>
            </a:r>
            <a:endParaRPr lang="en-US" sz="18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Gemini 2.5 Flash, decomposes intent into atomic executable steps</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err="1">
                <a:solidFill>
                  <a:schemeClr val="dk1"/>
                </a:solidFill>
                <a:effectLst/>
                <a:uFillTx/>
                <a:latin typeface="Calibri"/>
                <a:ea typeface="Calibri"/>
              </a:rPr>
              <a:t>ChromaDB</a:t>
            </a:r>
            <a:r>
              <a:rPr lang="en-IN" sz="1700" b="0" u="none" strike="noStrike" dirty="0">
                <a:solidFill>
                  <a:schemeClr val="dk1"/>
                </a:solidFill>
                <a:effectLst/>
                <a:uFillTx/>
                <a:latin typeface="Calibri"/>
                <a:ea typeface="Calibri"/>
              </a:rPr>
              <a:t> and Sentence Transformers, semantic recall of past workflows &amp; failures</a:t>
            </a:r>
            <a:endParaRPr lang="en-US" sz="17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Sarvam AI STT, voice to text before planning</a:t>
            </a:r>
            <a:endParaRPr lang="en-IN" sz="1700" dirty="0">
              <a:solidFill>
                <a:schemeClr val="dk1"/>
              </a:solidFill>
              <a:latin typeface="Calibri"/>
              <a:ea typeface="Calibri"/>
            </a:endParaRPr>
          </a:p>
          <a:p>
            <a:pPr marL="285840" indent="-285840" defTabSz="914400">
              <a:lnSpc>
                <a:spcPct val="100000"/>
              </a:lnSpc>
              <a:buClr>
                <a:srgbClr val="000000"/>
              </a:buClr>
              <a:buFont typeface="Arial"/>
              <a:buChar char="•"/>
            </a:pPr>
            <a:r>
              <a:rPr lang="en-IN" sz="1700" b="0" u="none" strike="noStrike" dirty="0">
                <a:solidFill>
                  <a:schemeClr val="dk1"/>
                </a:solidFill>
                <a:effectLst/>
                <a:uFillTx/>
                <a:latin typeface="Calibri"/>
                <a:ea typeface="Calibri"/>
              </a:rPr>
              <a:t>SOUL.md Macros, bypasses Gemini entirely for named routines</a:t>
            </a:r>
            <a:endParaRPr lang="en-US" sz="1700" b="0" u="none" strike="noStrike" dirty="0">
              <a:solidFill>
                <a:srgbClr val="000000"/>
              </a:solidFill>
              <a:effectLst/>
              <a:uFillTx/>
              <a:latin typeface="Arial"/>
            </a:endParaRPr>
          </a:p>
        </p:txBody>
      </p:sp>
      <p:pic>
        <p:nvPicPr>
          <p:cNvPr id="118" name="Picture 5" descr="A diagram of a computer program"/>
          <p:cNvPicPr/>
          <p:nvPr/>
        </p:nvPicPr>
        <p:blipFill>
          <a:blip r:embed="rId3"/>
          <a:stretch/>
        </p:blipFill>
        <p:spPr>
          <a:xfrm>
            <a:off x="7300080" y="673560"/>
            <a:ext cx="4571640" cy="59940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Box 21"/>
          <p:cNvSpPr/>
          <p:nvPr/>
        </p:nvSpPr>
        <p:spPr>
          <a:xfrm>
            <a:off x="680400" y="4595760"/>
            <a:ext cx="10978200" cy="366120"/>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p:style>
        <p:txBody>
          <a:bodyPr horzOverflow="overflow" numCol="1" spcCol="0" anchor="t">
            <a:spAutoFit/>
          </a:bodyPr>
          <a:lstStyle/>
          <a:p>
            <a:pPr defTabSz="914400">
              <a:lnSpc>
                <a:spcPct val="100000"/>
              </a:lnSpc>
            </a:pPr>
            <a:r>
              <a:rPr lang="en-US" sz="1800" b="1" u="none" strike="noStrike">
                <a:solidFill>
                  <a:schemeClr val="dk1"/>
                </a:solidFill>
                <a:effectLst/>
                <a:uFillTx/>
                <a:latin typeface="Calibri"/>
                <a:ea typeface="Calibri"/>
              </a:rPr>
              <a:t>Scale Potential</a:t>
            </a:r>
            <a:endParaRPr lang="en-US" sz="1800" b="0" u="none" strike="noStrike">
              <a:solidFill>
                <a:srgbClr val="000000"/>
              </a:solidFill>
              <a:effectLst/>
              <a:uFillTx/>
              <a:latin typeface="Arial"/>
            </a:endParaRPr>
          </a:p>
        </p:txBody>
      </p:sp>
      <p:sp>
        <p:nvSpPr>
          <p:cNvPr id="120"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121"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23"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Impact &amp; Use cases</a:t>
            </a:r>
            <a:endParaRPr lang="en-US" sz="4270" b="0" u="none" strike="noStrike">
              <a:solidFill>
                <a:srgbClr val="000000"/>
              </a:solidFill>
              <a:effectLst/>
              <a:uFillTx/>
              <a:latin typeface="Arial"/>
            </a:endParaRPr>
          </a:p>
        </p:txBody>
      </p:sp>
      <p:pic>
        <p:nvPicPr>
          <p:cNvPr id="124" name="Picture 123"/>
          <p:cNvPicPr/>
          <p:nvPr/>
        </p:nvPicPr>
        <p:blipFill>
          <a:blip r:embed="rId3"/>
          <a:stretch/>
        </p:blipFill>
        <p:spPr>
          <a:xfrm>
            <a:off x="680400" y="4932720"/>
            <a:ext cx="10058400" cy="1925280"/>
          </a:xfrm>
          <a:prstGeom prst="rect">
            <a:avLst/>
          </a:prstGeom>
          <a:noFill/>
          <a:ln w="0">
            <a:noFill/>
          </a:ln>
        </p:spPr>
      </p:pic>
      <p:pic>
        <p:nvPicPr>
          <p:cNvPr id="125" name="Picture 124"/>
          <p:cNvPicPr/>
          <p:nvPr/>
        </p:nvPicPr>
        <p:blipFill>
          <a:blip r:embed="rId4"/>
          <a:stretch/>
        </p:blipFill>
        <p:spPr>
          <a:xfrm>
            <a:off x="609840" y="1523880"/>
            <a:ext cx="11048760" cy="304056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127"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29"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Differentiation</a:t>
            </a:r>
            <a:endParaRPr lang="en-US" sz="4270" b="0" u="none" strike="noStrike">
              <a:solidFill>
                <a:srgbClr val="000000"/>
              </a:solidFill>
              <a:effectLst/>
              <a:uFillTx/>
              <a:latin typeface="Arial"/>
            </a:endParaRPr>
          </a:p>
        </p:txBody>
      </p:sp>
      <p:sp>
        <p:nvSpPr>
          <p:cNvPr id="130"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sp>
        <p:nvSpPr>
          <p:cNvPr id="131" name="TextBox 8"/>
          <p:cNvSpPr/>
          <p:nvPr/>
        </p:nvSpPr>
        <p:spPr>
          <a:xfrm>
            <a:off x="740520" y="1701720"/>
            <a:ext cx="5269320" cy="43084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IN" sz="1800" b="1" u="none" strike="noStrike">
                <a:solidFill>
                  <a:schemeClr val="dk1"/>
                </a:solidFill>
                <a:effectLst/>
                <a:uFillTx/>
                <a:latin typeface="Calibri"/>
                <a:ea typeface="Calibri"/>
              </a:rPr>
              <a:t>Unified Operating Layer</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Every existing tool covers one environment only, browser OR files OR terminal, never all</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IntentOS unifies browser, desktop apps, files (PDF/DOCX/OCR), terminal, messaging, and Google Workspace in one agent loop</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One sentence spans every tool, no manual handoff needed</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IN" sz="1800" b="1" u="none" strike="noStrike">
                <a:solidFill>
                  <a:schemeClr val="dk1"/>
                </a:solidFill>
                <a:effectLst/>
                <a:uFillTx/>
                <a:latin typeface="Calibri"/>
                <a:ea typeface="Calibri"/>
              </a:rPr>
              <a:t>Dynamic Workflow Planning</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Zapier/Make.com need pre-built rule graphs; IntentOS generates plans at runtime from natural language</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SOUL.md macros bypass LLM entirely for known routines, zero token cost, instant execution</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chemeClr val="dk1"/>
                </a:solidFill>
                <a:effectLst/>
                <a:uFillTx/>
                <a:latin typeface="Calibri"/>
                <a:ea typeface="Calibri"/>
              </a:rPr>
              <a:t>Step-level failure detection triggers automatic replanning, partial progress is never lost</a:t>
            </a:r>
            <a:endParaRPr lang="en-US" sz="1700" b="0" u="none" strike="noStrike">
              <a:solidFill>
                <a:srgbClr val="000000"/>
              </a:solidFill>
              <a:effectLst/>
              <a:uFillTx/>
              <a:latin typeface="Arial"/>
            </a:endParaRPr>
          </a:p>
        </p:txBody>
      </p:sp>
      <p:sp>
        <p:nvSpPr>
          <p:cNvPr id="132" name="TextBox 9"/>
          <p:cNvSpPr/>
          <p:nvPr/>
        </p:nvSpPr>
        <p:spPr>
          <a:xfrm>
            <a:off x="6304320" y="1718640"/>
            <a:ext cx="5532840" cy="484704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IN" sz="1800" b="1" u="none" strike="noStrike">
                <a:solidFill>
                  <a:srgbClr val="000000"/>
                </a:solidFill>
                <a:effectLst/>
                <a:uFillTx/>
                <a:latin typeface="Calibri"/>
                <a:ea typeface="Calibri"/>
              </a:rPr>
              <a:t>MOAT 1 — Neural Workflow Memory</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Successful runs stored as ChromaDB vector embeddings (Sentence Transformers)</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Similar future intents retrieve and reuse past execution patterns automatically</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Failure patterns stored too, system avoids known failure paths on retry</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IN" sz="1800" b="1" u="none" strike="noStrike">
                <a:solidFill>
                  <a:srgbClr val="000000"/>
                </a:solidFill>
                <a:effectLst/>
                <a:uFillTx/>
                <a:latin typeface="Calibri"/>
                <a:ea typeface="Calibri"/>
              </a:rPr>
              <a:t>MOAT 2 — Recovery &amp; Replanning Engine</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Detects failure at step level, preserves partial progress, not a full restart</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Queries RAG memory for closest successful workflow, patches plan, re-executes</a:t>
            </a:r>
            <a:endParaRPr lang="en-US" sz="17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IN" sz="1700" b="0" u="none" strike="noStrike">
                <a:solidFill>
                  <a:srgbClr val="000000"/>
                </a:solidFill>
                <a:effectLst/>
                <a:uFillTx/>
                <a:latin typeface="Calibri"/>
                <a:ea typeface="Calibri"/>
              </a:rPr>
              <a:t>Extension Bridge v3.1: 3x retry + verified delivery for Gmail, Calendar, Meet</a:t>
            </a:r>
            <a:endParaRPr lang="en-US" sz="1700" b="0" u="none" strike="noStrike">
              <a:solidFill>
                <a:srgbClr val="000000"/>
              </a:solidFill>
              <a:effectLst/>
              <a:uFillTx/>
              <a:latin typeface="Arial"/>
            </a:endParaRPr>
          </a:p>
          <a:p>
            <a:pPr defTabSz="914400">
              <a:lnSpc>
                <a:spcPct val="100000"/>
              </a:lnSpc>
            </a:pPr>
            <a:r>
              <a:rPr lang="en-IN" sz="1700" b="0" i="1" u="none" strike="noStrike">
                <a:solidFill>
                  <a:srgbClr val="00B0F0"/>
                </a:solidFill>
                <a:effectLst/>
                <a:uFillTx/>
                <a:latin typeface="Calibri"/>
                <a:ea typeface="Calibri"/>
              </a:rPr>
              <a:t>Result: adaptive automation, not static rule execution.</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134"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5"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36"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70" b="1" u="none" strike="noStrike">
                <a:solidFill>
                  <a:schemeClr val="dk1"/>
                </a:solidFill>
                <a:effectLst/>
                <a:uFillTx/>
                <a:latin typeface="Calibri"/>
                <a:ea typeface="Calibri"/>
              </a:rPr>
              <a:t>Demo Link</a:t>
            </a:r>
            <a:endParaRPr lang="en-US" sz="4270" b="0" u="none" strike="noStrike">
              <a:solidFill>
                <a:srgbClr val="000000"/>
              </a:solidFill>
              <a:effectLst/>
              <a:uFillTx/>
              <a:latin typeface="Arial"/>
            </a:endParaRPr>
          </a:p>
        </p:txBody>
      </p:sp>
      <p:sp>
        <p:nvSpPr>
          <p:cNvPr id="137"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sp>
        <p:nvSpPr>
          <p:cNvPr id="138" name="TextBox 8"/>
          <p:cNvSpPr/>
          <p:nvPr/>
        </p:nvSpPr>
        <p:spPr>
          <a:xfrm>
            <a:off x="740520" y="1701720"/>
            <a:ext cx="10716120" cy="3600986"/>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IN" sz="1800" b="1" u="none" strike="noStrike" dirty="0">
                <a:solidFill>
                  <a:schemeClr val="dk1"/>
                </a:solidFill>
                <a:effectLst/>
                <a:uFillTx/>
                <a:latin typeface="Calibri"/>
                <a:ea typeface="Calibri"/>
              </a:rPr>
              <a:t>GitHub Repository</a:t>
            </a:r>
            <a:endParaRPr lang="en-US" sz="18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800" b="0" u="none" strike="noStrike" dirty="0">
                <a:solidFill>
                  <a:schemeClr val="dk1"/>
                </a:solidFill>
                <a:effectLst/>
                <a:uFillTx/>
                <a:latin typeface="Calibri"/>
                <a:ea typeface="Calibri"/>
              </a:rPr>
              <a:t>Link: </a:t>
            </a:r>
            <a:r>
              <a:rPr lang="en-IN" sz="1800" b="0" u="sng" strike="noStrike" dirty="0">
                <a:solidFill>
                  <a:schemeClr val="dk1"/>
                </a:solidFill>
                <a:effectLst/>
                <a:uFillTx/>
                <a:latin typeface="Calibri"/>
                <a:ea typeface="Calibri"/>
                <a:hlinkClick r:id="rId3"/>
              </a:rPr>
              <a:t>github.com/ayushchandrapatel7051/</a:t>
            </a:r>
            <a:r>
              <a:rPr lang="en-IN" sz="1800" b="0" u="sng" strike="noStrike" dirty="0" err="1">
                <a:solidFill>
                  <a:schemeClr val="dk1"/>
                </a:solidFill>
                <a:effectLst/>
                <a:uFillTx/>
                <a:latin typeface="Calibri"/>
                <a:ea typeface="Calibri"/>
                <a:hlinkClick r:id="rId3"/>
              </a:rPr>
              <a:t>IntentOS</a:t>
            </a:r>
            <a:endParaRPr lang="en-US" sz="1800" b="0" u="none" strike="noStrike" dirty="0">
              <a:solidFill>
                <a:srgbClr val="000000"/>
              </a:solidFill>
              <a:effectLst/>
              <a:uFillTx/>
              <a:latin typeface="Arial"/>
            </a:endParaRPr>
          </a:p>
          <a:p>
            <a:pPr defTabSz="914400">
              <a:lnSpc>
                <a:spcPct val="100000"/>
              </a:lnSpc>
            </a:pPr>
            <a:r>
              <a:rPr lang="en-IN" sz="1800" b="1" u="none" strike="noStrike" dirty="0">
                <a:solidFill>
                  <a:schemeClr val="dk1"/>
                </a:solidFill>
                <a:effectLst/>
                <a:uFillTx/>
                <a:latin typeface="Calibri"/>
                <a:ea typeface="Calibri"/>
              </a:rPr>
              <a:t>Demo</a:t>
            </a:r>
            <a:endParaRPr lang="en-US" sz="1800" b="0" u="none" strike="noStrike" dirty="0">
              <a:solidFill>
                <a:srgbClr val="000000"/>
              </a:solidFill>
              <a:effectLst/>
              <a:uFillTx/>
              <a:latin typeface="Arial"/>
            </a:endParaRPr>
          </a:p>
          <a:p>
            <a:pPr marL="285840" indent="-285840">
              <a:buClr>
                <a:srgbClr val="000000"/>
              </a:buClr>
              <a:buFont typeface="Arial"/>
              <a:buChar char="•"/>
            </a:pPr>
            <a:r>
              <a:rPr lang="en-IN" sz="1800" b="0" u="none" strike="noStrike" dirty="0">
                <a:solidFill>
                  <a:schemeClr val="dk1"/>
                </a:solidFill>
                <a:effectLst/>
                <a:uFillTx/>
                <a:latin typeface="Calibri"/>
                <a:ea typeface="Calibri"/>
              </a:rPr>
              <a:t>Project Video Demo Link:</a:t>
            </a:r>
            <a:r>
              <a:rPr lang="en-IN" dirty="0">
                <a:solidFill>
                  <a:schemeClr val="dk1"/>
                </a:solidFill>
                <a:ea typeface="Calibri"/>
              </a:rPr>
              <a:t> </a:t>
            </a:r>
            <a:r>
              <a:rPr lang="en-IN" dirty="0">
                <a:solidFill>
                  <a:schemeClr val="dk1"/>
                </a:solidFill>
                <a:ea typeface="Calibri"/>
                <a:hlinkClick r:id="rId4"/>
              </a:rPr>
              <a:t>https://drive.google.com/file/d/1x0mhyvkGGOudKDBIoXwq-48ukniB6knK/view?usp=sharing</a:t>
            </a:r>
            <a:endParaRPr lang="en-US" sz="1800" b="0" u="none" strike="noStrike" dirty="0">
              <a:solidFill>
                <a:srgbClr val="000000"/>
              </a:solidFill>
              <a:effectLst/>
              <a:uFillTx/>
              <a:latin typeface="Arial"/>
            </a:endParaRPr>
          </a:p>
          <a:p>
            <a:pPr defTabSz="914400">
              <a:lnSpc>
                <a:spcPct val="100000"/>
              </a:lnSpc>
            </a:pPr>
            <a:r>
              <a:rPr lang="en-IN" sz="1800" b="1" u="none" strike="noStrike" dirty="0">
                <a:solidFill>
                  <a:schemeClr val="dk1"/>
                </a:solidFill>
                <a:effectLst/>
                <a:uFillTx/>
                <a:latin typeface="Calibri"/>
                <a:ea typeface="Calibri"/>
              </a:rPr>
              <a:t>Submitted Documents</a:t>
            </a:r>
            <a:endParaRPr lang="en-US" sz="18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Project Video Demo</a:t>
            </a:r>
            <a:r>
              <a:rPr lang="en-IN" sz="1700" b="0" u="none" strike="noStrike" dirty="0">
                <a:solidFill>
                  <a:schemeClr val="dk1"/>
                </a:solidFill>
                <a:effectLst/>
                <a:uFillTx/>
                <a:latin typeface="Calibri"/>
                <a:ea typeface="Calibri"/>
              </a:rPr>
              <a:t> — Solution explanation + full walkthrough</a:t>
            </a:r>
            <a:endParaRPr lang="en-US" sz="17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Complete Source Code</a:t>
            </a:r>
            <a:r>
              <a:rPr lang="en-IN" sz="1700" b="0" u="none" strike="noStrike" dirty="0">
                <a:solidFill>
                  <a:schemeClr val="dk1"/>
                </a:solidFill>
                <a:effectLst/>
                <a:uFillTx/>
                <a:latin typeface="Calibri"/>
                <a:ea typeface="Calibri"/>
              </a:rPr>
              <a:t> — agent, skills, memory, dashboard, Chrome extension</a:t>
            </a:r>
            <a:endParaRPr lang="en-US" sz="17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README</a:t>
            </a:r>
            <a:r>
              <a:rPr lang="en-IN" sz="1700" b="0" u="none" strike="noStrike" dirty="0">
                <a:solidFill>
                  <a:schemeClr val="dk1"/>
                </a:solidFill>
                <a:effectLst/>
                <a:uFillTx/>
                <a:latin typeface="Calibri"/>
                <a:ea typeface="Calibri"/>
              </a:rPr>
              <a:t> — Problem, solution, setup instructions, usage guide</a:t>
            </a:r>
            <a:endParaRPr lang="en-US" sz="17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AI Disclosure</a:t>
            </a:r>
            <a:r>
              <a:rPr lang="en-IN" sz="1700" b="0" u="none" strike="noStrike" dirty="0">
                <a:solidFill>
                  <a:schemeClr val="dk1"/>
                </a:solidFill>
                <a:effectLst/>
                <a:uFillTx/>
                <a:latin typeface="Calibri"/>
                <a:ea typeface="Calibri"/>
              </a:rPr>
              <a:t> — </a:t>
            </a:r>
            <a:r>
              <a:rPr lang="en-IN" sz="1700" b="0" u="none" strike="noStrike" dirty="0">
                <a:solidFill>
                  <a:schemeClr val="dk1"/>
                </a:solidFill>
                <a:effectLst/>
                <a:uFillTx/>
                <a:latin typeface="Calibri"/>
                <a:ea typeface="Calibri"/>
                <a:hlinkClick r:id="rId5"/>
              </a:rPr>
              <a:t>Link</a:t>
            </a:r>
            <a:endParaRPr lang="en-US" sz="17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PPT</a:t>
            </a:r>
            <a:r>
              <a:rPr lang="en-IN" sz="1700" b="0" u="none" strike="noStrike" dirty="0">
                <a:solidFill>
                  <a:schemeClr val="dk1"/>
                </a:solidFill>
                <a:effectLst/>
                <a:uFillTx/>
                <a:latin typeface="Calibri"/>
                <a:ea typeface="Calibri"/>
              </a:rPr>
              <a:t> — Attached (Samsung Hackathon format)</a:t>
            </a:r>
            <a:endParaRPr lang="en-US" sz="1700" b="0" u="none" strike="noStrike" dirty="0">
              <a:solidFill>
                <a:srgbClr val="000000"/>
              </a:solidFill>
              <a:effectLst/>
              <a:uFillTx/>
              <a:latin typeface="Arial"/>
            </a:endParaRPr>
          </a:p>
          <a:p>
            <a:pPr indent="-285840" defTabSz="914400">
              <a:lnSpc>
                <a:spcPct val="100000"/>
              </a:lnSpc>
              <a:buClr>
                <a:srgbClr val="000000"/>
              </a:buClr>
              <a:buFont typeface="Arial"/>
              <a:buChar char="•"/>
            </a:pPr>
            <a:r>
              <a:rPr lang="en-IN" sz="1700" b="1" u="none" strike="noStrike" dirty="0">
                <a:solidFill>
                  <a:schemeClr val="dk1"/>
                </a:solidFill>
                <a:effectLst/>
                <a:uFillTx/>
                <a:latin typeface="Calibri"/>
                <a:ea typeface="Calibri"/>
              </a:rPr>
              <a:t>   APK/SDK</a:t>
            </a:r>
            <a:r>
              <a:rPr lang="en-IN" sz="1700" b="0" u="none" strike="noStrike" dirty="0">
                <a:solidFill>
                  <a:schemeClr val="dk1"/>
                </a:solidFill>
                <a:effectLst/>
                <a:uFillTx/>
                <a:latin typeface="Calibri"/>
                <a:ea typeface="Calibri"/>
              </a:rPr>
              <a:t> — Not applicable (desktop application)</a:t>
            </a:r>
            <a:endParaRPr lang="en-US" sz="1700" b="0" u="none" strike="noStrike" dirty="0">
              <a:solidFill>
                <a:srgbClr val="000000"/>
              </a:solidFill>
              <a:effectLst/>
              <a:uFillTx/>
              <a:latin typeface="Arial"/>
            </a:endParaRPr>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0"/>
          <p:cNvSpPr/>
          <p:nvPr/>
        </p:nvSpPr>
        <p:spPr>
          <a:xfrm>
            <a:off x="0" y="0"/>
            <a:ext cx="12191760" cy="84960"/>
          </a:xfrm>
          <a:prstGeom prst="rect">
            <a:avLst/>
          </a:prstGeom>
          <a:solidFill>
            <a:srgbClr val="00B4D8"/>
          </a:solidFill>
          <a:ln w="12700">
            <a:solidFill>
              <a:srgbClr val="00B4D8"/>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endParaRPr lang="en-US" sz="1800" b="0" u="none" strike="noStrike">
              <a:solidFill>
                <a:srgbClr val="000000"/>
              </a:solidFill>
              <a:effectLst/>
              <a:uFillTx/>
              <a:latin typeface="Arial"/>
            </a:endParaRPr>
          </a:p>
        </p:txBody>
      </p:sp>
      <p:sp>
        <p:nvSpPr>
          <p:cNvPr id="140" name="Shape 1"/>
          <p:cNvSpPr/>
          <p:nvPr/>
        </p:nvSpPr>
        <p:spPr>
          <a:xfrm>
            <a:off x="609480" y="219600"/>
            <a:ext cx="1950480" cy="340920"/>
          </a:xfrm>
          <a:prstGeom prst="rect">
            <a:avLst/>
          </a:prstGeom>
          <a:solidFill>
            <a:srgbClr val="0077A8"/>
          </a:solidFill>
          <a:ln w="12700">
            <a:solidFill>
              <a:srgbClr val="0077A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1" name="Text 2"/>
          <p:cNvSpPr/>
          <p:nvPr/>
        </p:nvSpPr>
        <p:spPr>
          <a:xfrm>
            <a:off x="609480" y="219600"/>
            <a:ext cx="1950480" cy="34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1000" b="1" u="none" strike="noStrike">
                <a:solidFill>
                  <a:schemeClr val="lt1"/>
                </a:solidFill>
                <a:effectLst/>
                <a:uFillTx/>
                <a:latin typeface="Calibri"/>
              </a:rPr>
              <a:t>Idea</a:t>
            </a:r>
            <a:endParaRPr lang="en-US" sz="1000" b="0" u="none" strike="noStrike">
              <a:solidFill>
                <a:srgbClr val="000000"/>
              </a:solidFill>
              <a:effectLst/>
              <a:uFillTx/>
              <a:latin typeface="Arial"/>
            </a:endParaRPr>
          </a:p>
        </p:txBody>
      </p:sp>
      <p:sp>
        <p:nvSpPr>
          <p:cNvPr id="142" name="Text 3"/>
          <p:cNvSpPr/>
          <p:nvPr/>
        </p:nvSpPr>
        <p:spPr>
          <a:xfrm>
            <a:off x="609480" y="670680"/>
            <a:ext cx="10972440" cy="85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4250" b="1" u="none" strike="noStrike">
                <a:solidFill>
                  <a:schemeClr val="dk1"/>
                </a:solidFill>
                <a:effectLst/>
                <a:uFillTx/>
                <a:latin typeface="Calibri"/>
                <a:ea typeface="Calibri"/>
              </a:rPr>
              <a:t>Future Impact</a:t>
            </a:r>
            <a:endParaRPr lang="en-US" sz="4250" b="0" u="none" strike="noStrike">
              <a:solidFill>
                <a:srgbClr val="000000"/>
              </a:solidFill>
              <a:effectLst/>
              <a:uFillTx/>
              <a:latin typeface="Arial"/>
            </a:endParaRPr>
          </a:p>
        </p:txBody>
      </p:sp>
      <p:sp>
        <p:nvSpPr>
          <p:cNvPr id="143" name="Text 1"/>
          <p:cNvSpPr/>
          <p:nvPr/>
        </p:nvSpPr>
        <p:spPr>
          <a:xfrm>
            <a:off x="5852160" y="1396080"/>
            <a:ext cx="5120280" cy="5486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26670" b="0" u="none" strike="noStrike">
              <a:solidFill>
                <a:schemeClr val="dk1"/>
              </a:solidFill>
              <a:effectLst/>
              <a:uFillTx/>
              <a:latin typeface="Calibri"/>
            </a:endParaRPr>
          </a:p>
        </p:txBody>
      </p:sp>
      <p:sp>
        <p:nvSpPr>
          <p:cNvPr id="144" name="TextBox 8"/>
          <p:cNvSpPr/>
          <p:nvPr/>
        </p:nvSpPr>
        <p:spPr>
          <a:xfrm>
            <a:off x="740520" y="1701720"/>
            <a:ext cx="10847880" cy="3031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pPr>
            <a:r>
              <a:rPr lang="en-IN" sz="1800" b="1" u="none" strike="noStrike">
                <a:solidFill>
                  <a:schemeClr val="dk1"/>
                </a:solidFill>
                <a:effectLst/>
                <a:uFillTx/>
                <a:latin typeface="Calibri"/>
              </a:rPr>
              <a:t>Redefining Human–Computer Interaction</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ea typeface="Calibri"/>
              </a:rPr>
              <a:t>•</a:t>
            </a:r>
            <a:r>
              <a:rPr lang="en-IN" sz="1700" b="0" u="none" strike="noStrike">
                <a:solidFill>
                  <a:schemeClr val="dk1"/>
                </a:solidFill>
                <a:effectLst/>
                <a:uFillTx/>
                <a:latin typeface="Calibri"/>
                <a:ea typeface="Calibri"/>
              </a:rPr>
              <a:t> Move from manual software navigation to intent-driven computing.</a:t>
            </a:r>
            <a:endParaRPr lang="en-US" sz="17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 Reduce repetitive digital workflows through autonomous execution.</a:t>
            </a:r>
            <a:endParaRPr lang="en-US" sz="17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 Enable AI systems that can understand, plan, execute, and recover tasks independently.</a:t>
            </a:r>
            <a:endParaRPr lang="en-US" sz="17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 Improve productivity for students, developers, professionals, and enterprises.</a:t>
            </a:r>
            <a:endParaRPr lang="en-US" sz="17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 Create a foundation for AI-native operating environments across desktop systems.</a:t>
            </a:r>
            <a:endParaRPr lang="en-US" sz="17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 Expand toward voice-controlled, multi-agent, and cross-device automation ecosystems.</a:t>
            </a:r>
            <a:endParaRPr lang="en-US" sz="1700" b="0" u="none" strike="noStrike">
              <a:solidFill>
                <a:srgbClr val="000000"/>
              </a:solidFill>
              <a:effectLst/>
              <a:uFillTx/>
              <a:latin typeface="Arial"/>
            </a:endParaRPr>
          </a:p>
          <a:p>
            <a:pPr defTabSz="914400">
              <a:lnSpc>
                <a:spcPct val="100000"/>
              </a:lnSpc>
            </a:pPr>
            <a:endParaRPr lang="en-US" sz="1700" b="0" u="none" strike="noStrike">
              <a:solidFill>
                <a:srgbClr val="000000"/>
              </a:solidFill>
              <a:effectLst/>
              <a:uFillTx/>
              <a:latin typeface="Arial"/>
            </a:endParaRPr>
          </a:p>
          <a:p>
            <a:pPr defTabSz="914400">
              <a:lnSpc>
                <a:spcPct val="100000"/>
              </a:lnSpc>
            </a:pPr>
            <a:r>
              <a:rPr lang="en-IN" sz="1800" b="1" u="none" strike="noStrike">
                <a:solidFill>
                  <a:schemeClr val="dk1"/>
                </a:solidFill>
                <a:effectLst/>
                <a:uFillTx/>
                <a:latin typeface="Calibri"/>
                <a:ea typeface="Calibri"/>
              </a:rPr>
              <a:t>Vision</a:t>
            </a:r>
            <a:endParaRPr lang="en-US" sz="1800" b="0" u="none" strike="noStrike">
              <a:solidFill>
                <a:srgbClr val="000000"/>
              </a:solidFill>
              <a:effectLst/>
              <a:uFillTx/>
              <a:latin typeface="Arial"/>
            </a:endParaRPr>
          </a:p>
          <a:p>
            <a:pPr defTabSz="914400">
              <a:lnSpc>
                <a:spcPct val="100000"/>
              </a:lnSpc>
            </a:pPr>
            <a:r>
              <a:rPr lang="en-IN" sz="1700" b="0" u="none" strike="noStrike">
                <a:solidFill>
                  <a:schemeClr val="dk1"/>
                </a:solidFill>
                <a:effectLst/>
                <a:uFillTx/>
                <a:latin typeface="Calibri"/>
                <a:ea typeface="Calibri"/>
              </a:rPr>
              <a:t>“IntentOS aims to become the intelligent operating layer between humans and computers.”</a:t>
            </a:r>
            <a:endParaRPr lang="en-US" sz="17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378</TotalTime>
  <Words>1028</Words>
  <Application>Microsoft Office PowerPoint</Application>
  <PresentationFormat>Widescreen</PresentationFormat>
  <Paragraphs>127</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Berlin Sans FB Demi</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Prakhar Chandrakar ./PRISM /SRI-Bangalore/Professional/Samsung Electronics</dc:creator>
  <dc:description/>
  <cp:lastModifiedBy>AYUSH KUMAR</cp:lastModifiedBy>
  <cp:revision>287</cp:revision>
  <dcterms:created xsi:type="dcterms:W3CDTF">2026-04-27T09:11:02Z</dcterms:created>
  <dcterms:modified xsi:type="dcterms:W3CDTF">2026-05-08T11:29:51Z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Notes">
    <vt:i4>9</vt:i4>
  </property>
  <property fmtid="{D5CDD505-2E9C-101B-9397-08002B2CF9AE}" pid="4" name="PresentationFormat">
    <vt:lpwstr>Widescreen</vt:lpwstr>
  </property>
  <property fmtid="{D5CDD505-2E9C-101B-9397-08002B2CF9AE}" pid="5" name="Slides">
    <vt:i4>10</vt:i4>
  </property>
</Properties>
</file>